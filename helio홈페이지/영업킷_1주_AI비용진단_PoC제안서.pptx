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비용(만원)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18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A96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현재</c:v>
                  </c:pt>
                  <c:pt idx="1">
                    <c:v>최적화 후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3000</c:v>
                </c:pt>
                <c:pt idx="1">
                  <c:v>1950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F18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6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Jeus</a:t>
            </a:r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78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FinOps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 AI 비용 진단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LLM·에이전트 비용을 1주 만에 분해하고, 절감 여지를 숫자로 보여드립니다.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" y="4114800"/>
            <a:ext cx="2011680" cy="0"/>
          </a:xfrm>
          <a:prstGeom prst="line">
            <a:avLst/>
          </a:prstGeom>
          <a:noFill/>
          <a:ln w="38100">
            <a:solidFill>
              <a:srgbClr val="2F6D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937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제출처: [고객사명] [담당자/직함] 귀하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3035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Heliosoft  ·  [담당자]  ·  [이메일/연락처]  ·  jeus.ai.kr   |   [YYYY-MM-DD]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청구서는 커지는데, 어디서 새는지 모릅니다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AI·에이전트 도입이 빨라지며 LLM 비용이 통제 범위를 벗어나고 있습니다. 대부분의 조직은 어느 에이전트·모델·팀이 얼마를 쓰는지조차 정확히 모릅니다.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630168" cy="2926080"/>
          </a:xfrm>
          <a:prstGeom prst="roundRect">
            <a:avLst>
              <a:gd name="adj" fmla="val 3750"/>
            </a:avLst>
          </a:prstGeom>
          <a:solidFill>
            <a:srgbClr val="F5F8FF"/>
          </a:solidFill>
          <a:ln w="12700">
            <a:solidFill>
              <a:srgbClr val="E6EBF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834640"/>
            <a:ext cx="3538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F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→ 98%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30815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지출을 관리하는 조직 (1년 만에)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Foundation,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53128" y="2468880"/>
            <a:ext cx="3630168" cy="2926080"/>
          </a:xfrm>
          <a:prstGeom prst="roundRect">
            <a:avLst>
              <a:gd name="adj" fmla="val 3750"/>
            </a:avLst>
          </a:prstGeom>
          <a:solidFill>
            <a:srgbClr val="F5F8FF"/>
          </a:solidFill>
          <a:ln w="12700">
            <a:solidFill>
              <a:srgbClr val="E6EBF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8848" y="2834640"/>
            <a:ext cx="3538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F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7.2배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727448" y="3977640"/>
            <a:ext cx="30815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엔터프라이즈 월 LLM 청구서 증가 (전년比)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66176" y="2468880"/>
            <a:ext cx="3630168" cy="2926080"/>
          </a:xfrm>
          <a:prstGeom prst="roundRect">
            <a:avLst>
              <a:gd name="adj" fmla="val 3750"/>
            </a:avLst>
          </a:prstGeom>
          <a:solidFill>
            <a:srgbClr val="F5F8FF"/>
          </a:solidFill>
          <a:ln w="12700">
            <a:solidFill>
              <a:srgbClr val="E6EBF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1896" y="2834640"/>
            <a:ext cx="3538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F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540496" y="3977640"/>
            <a:ext cx="30815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국내 기업 생성형 AI 도입 전망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10곳 중 8곳 예산 확대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 AI 비용 진단 (PoC)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코드·인프라 변경을 최소화한 상태에서 LLM 호출 데이터를 분석해, 비용 구조·낭비·절감 시나리오를 정량 리포트로 제공합니다.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24323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분해 (Showback)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8163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에이전트·모델·팀(부서)별로 비용을 정확히 분해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4564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456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41985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낭비 지점 탐지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8039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호출·과도한 컨텍스트·비효율 모델·캐시 가능 비율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44398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43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44074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절감 시뮬레이션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479145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캐싱·라우팅·프롬프트 최적화 적용 시 예상 절감(%/금액)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4315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431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5394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 진단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57790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부서별 예산·한도·알림 등 통제 적용 포인트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일정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영업일 5일 만에 결과 리포트까지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715768" cy="2743200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6060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86968" y="3154680"/>
            <a:ext cx="7315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337560"/>
            <a:ext cx="2258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킥오프 · 데이터 연동 · 목표 합의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20440" y="2377440"/>
            <a:ext cx="2715768" cy="2743200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6060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2–3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767328" y="3154680"/>
            <a:ext cx="7315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3337560"/>
            <a:ext cx="2258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분해 분석 · 낭비/절감 여지 도출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2377440"/>
            <a:ext cx="2715768" cy="2743200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26060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647688" y="3154680"/>
            <a:ext cx="7315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3337560"/>
            <a:ext cx="2258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절감 시나리오 시뮬레이션 · 거버넌스 진단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281160" y="2377440"/>
            <a:ext cx="2715768" cy="2743200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09760" y="26060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528048" y="3154680"/>
            <a:ext cx="7315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3337560"/>
            <a:ext cx="2258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리포트 전달 · 리뷰 미팅(60분) · 다음 단계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게이트웨이 최적화로 통상 30~60% 절감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−30~60%</a:t>
            </a:r>
            <a:endParaRPr lang="en-US" sz="5000" dirty="0"/>
          </a:p>
          <a:p>
            <a:pPr indent="0" marL="0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비용 절감 (캐싱·라우팅·프롬프트 최적화)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</a:t>
            </a:r>
            <a:pPr indent="0" marL="0">
              <a:buNone/>
            </a:pPr>
            <a:r>
              <a:rPr lang="en-US" sz="1500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3,000만원 × 35% 절감 = </a:t>
            </a:r>
            <a:pPr indent="0" marL="0">
              <a:buNone/>
            </a:pPr>
            <a:r>
              <a:rPr lang="en-US" sz="1500" b="1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1,050만원 / 연 1.26억원 절감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120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정확한 수치는 진단으로 확정 · 시맨틱 캐시 단독 사례 최대 73~86%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0" y="2011680"/>
          <a:ext cx="55778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옵션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부담 없이 시작하는 3가지 방법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63016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6974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무료 진단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범위 · 레퍼런스 협조 조건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53128" y="2377440"/>
            <a:ext cx="363016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27448" y="26974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표준 진단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27448" y="324612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[200~500]만원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27448" y="4114800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범위 + 상세 리포트 (단발)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66176" y="2377440"/>
            <a:ext cx="363016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40496" y="26974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진단+1개월 파일럿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40496" y="324612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A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[견적]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540496" y="4114800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 후 게이트웨이 절감 1개월 적용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B/C 비용은 정식 계약 전환 시 전액·일부 크레딧 처리 가능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2F6DF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 회신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2F6D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606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킥오프 일정 확정 (제안일+7일 이내)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2F6D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33832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5영업일 진단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2F6DF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리뷰 &amp; 정식 계약 논의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521208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16204F"/>
          </a:solidFill>
          <a:ln w="12700">
            <a:solidFill>
              <a:srgbClr val="2F6D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2120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Heliosoft · Jeus.fin  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[담당자] · [전화] · [이메일] · </a:t>
            </a:r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jeus.ai.kr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1주 AI 비용 진단 PoC 제안서</dc:title>
  <dc:subject>PptxGenJS Presentation</dc:subject>
  <dc:creator>Heliosoft</dc:creator>
  <cp:lastModifiedBy>Heliosoft</cp:lastModifiedBy>
  <cp:revision>1</cp:revision>
  <dcterms:created xsi:type="dcterms:W3CDTF">2026-06-19T11:04:01Z</dcterms:created>
  <dcterms:modified xsi:type="dcterms:W3CDTF">2026-06-19T11:04:01Z</dcterms:modified>
</cp:coreProperties>
</file>